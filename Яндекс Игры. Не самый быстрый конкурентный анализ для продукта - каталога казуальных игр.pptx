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9423C6-ED53-4A57-8D20-73EF99E58E47}">
  <a:tblStyle styleId="{A59423C6-ED53-4A57-8D20-73EF99E58E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57cc7603c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57cc7603c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2b539b0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2b539b0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57cc7603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57cc7603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7cc7603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57cc7603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57cc7603c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57cc7603c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57cc7603c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57cc7603c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57cc7603c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57cc7603c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2b539b0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d2b539b0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57cc7603c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57cc7603c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57cc7603c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57cc7603c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2b539b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d2b539b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tf.ru" TargetMode="External"/><Relationship Id="rId4" Type="http://schemas.openxmlformats.org/officeDocument/2006/relationships/hyperlink" Target="http://y8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61850" y="630225"/>
            <a:ext cx="89064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Яндекс Игры. Не самый быстрый конкурентный анализ для продукта - каталога казуальных игр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6695572" y="3847049"/>
            <a:ext cx="30834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900"/>
              <a:t>Отчёт подготовил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900"/>
              <a:t>   Тёма Каменский</a:t>
            </a:r>
            <a:endParaRPr b="1" sz="1900"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33038"/>
            <a:ext cx="52959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0" y="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Краткое резюме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0" y="572200"/>
            <a:ext cx="91440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Постарался системно проанализировать вопрос казуальных веб игр. Понял природность и базированность игры в жизни человека. 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Попробовал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составить портрет по решаемым проблемам людей, играющих в браузерные игры. И разобраться, что важно для всех сторон такого сервиса. Провёл конкурентый анализ: понял, что ключевыми моментами для игроков являются 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бесплатность и скорость игр и 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наполнение каталога: качество, известность, разнообразность, актуальность игр. Для разработчиков веб игр важна комиссия, модерация, трафик, также они выбирают сайты игр по целевой аудитории и своему статусу. Предложил идеи пополнения каталога игр. Также понял, что в России и СНГ более-менее безоблачная ситуация, но 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за рубежом</a:t>
            </a:r>
            <a:r>
              <a:rPr lang="ru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обязательно потребуется дифференциация основного продукта и работа по наиболее близкой аудитории. А также, что важно понять будут ли эффекты и цели теми же, что и в странах, где с поисковиком и экосистемой Яндекса хорошо знакомы.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Оглавление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400262" y="121135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46"/>
              <a:t>3 слайд: Что такое игры?</a:t>
            </a:r>
            <a:endParaRPr sz="224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8982"/>
              <a:buFont typeface="Arial"/>
              <a:buNone/>
            </a:pPr>
            <a:r>
              <a:rPr lang="ru" sz="2246"/>
              <a:t>4 слайд: Фокусировка на браузерных казуальных играх</a:t>
            </a:r>
            <a:endParaRPr sz="224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8982"/>
              <a:buFont typeface="Arial"/>
              <a:buNone/>
            </a:pPr>
            <a:r>
              <a:rPr lang="ru" sz="2246"/>
              <a:t>5 слайд: Что кому важно?</a:t>
            </a:r>
            <a:endParaRPr sz="224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8982"/>
              <a:buFont typeface="Arial"/>
              <a:buNone/>
            </a:pPr>
            <a:r>
              <a:rPr lang="ru" sz="2246"/>
              <a:t>6 слайд: Яндекс Игры. Свойства для игроков, разрабов и конкурентов</a:t>
            </a:r>
            <a:endParaRPr sz="224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48982"/>
              <a:buFont typeface="Arial"/>
              <a:buNone/>
            </a:pPr>
            <a:r>
              <a:rPr lang="ru" sz="2246"/>
              <a:t>7-8 слайд: Матрица конкурентов</a:t>
            </a:r>
            <a:endParaRPr sz="224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46"/>
              <a:t>9-10 слайд: Гипотезы по улучшению продукта - каталога казуальных игр и не только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4294967295" type="title"/>
          </p:nvPr>
        </p:nvSpPr>
        <p:spPr>
          <a:xfrm>
            <a:off x="2142550" y="3418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игра?</a:t>
            </a:r>
            <a:endParaRPr/>
          </a:p>
        </p:txBody>
      </p:sp>
      <p:sp>
        <p:nvSpPr>
          <p:cNvPr id="92" name="Google Shape;92;p16"/>
          <p:cNvSpPr txBox="1"/>
          <p:nvPr>
            <p:ph idx="4294967295" type="body"/>
          </p:nvPr>
        </p:nvSpPr>
        <p:spPr>
          <a:xfrm>
            <a:off x="2142549" y="1199950"/>
            <a:ext cx="6579300" cy="31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758"/>
              <a:t>С точки зрения природы игра - это тренировка навыков, которые типичны для данного животного вида.  При этом такой способ “обучения” видимо с точки зрения эволюции  успешный, так как свойственен высшим организмам с их сложным строением и поведением. Даже во взрослом возрасте.</a:t>
            </a:r>
            <a:endParaRPr sz="47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758"/>
              <a:t>Таким образом игра - это симуляция процессов или отдельных навыков, которые понятны, приятны, полезны, естественны  и жизненны для человека.</a:t>
            </a:r>
            <a:endParaRPr sz="47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758"/>
              <a:t>Приведём примеры таких процессов:</a:t>
            </a:r>
            <a:endParaRPr sz="4758"/>
          </a:p>
          <a:p>
            <a:pPr indent="-3041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 sz="4758"/>
              <a:t>Социальные взаимодействия: общение, свидания, споры, разговоры по душам, конфликты и отстаивание своей точки зрения</a:t>
            </a:r>
            <a:endParaRPr sz="4758"/>
          </a:p>
          <a:p>
            <a:pPr indent="-3041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4758"/>
              <a:t>Выживание:  хотьба, бег, борьба, физическая сила, ловкость,  скорость реакции, добывание пищи, ориентация в пространстве, открытие нового, </a:t>
            </a:r>
            <a:r>
              <a:rPr lang="ru" sz="4758"/>
              <a:t>любознательность</a:t>
            </a:r>
            <a:endParaRPr sz="4758"/>
          </a:p>
          <a:p>
            <a:pPr indent="-3041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4758"/>
              <a:t>Решение задач: размышления, хитрости, обман, поиск причинно следственных связей</a:t>
            </a:r>
            <a:endParaRPr sz="4758"/>
          </a:p>
          <a:p>
            <a:pPr indent="-3041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4758"/>
              <a:t>И более сложные: работа</a:t>
            </a:r>
            <a:endParaRPr sz="47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84154" y="420600"/>
            <a:ext cx="1446625" cy="3810000"/>
          </a:xfrm>
          <a:custGeom>
            <a:rect b="b" l="l" r="r" t="t"/>
            <a:pathLst>
              <a:path extrusionOk="0" h="152400" w="57865">
                <a:moveTo>
                  <a:pt x="13093" y="0"/>
                </a:moveTo>
                <a:cubicBezTo>
                  <a:pt x="20196" y="5681"/>
                  <a:pt x="17232" y="20484"/>
                  <a:pt x="11114" y="27214"/>
                </a:cubicBezTo>
                <a:cubicBezTo>
                  <a:pt x="9021" y="29517"/>
                  <a:pt x="5918" y="30651"/>
                  <a:pt x="3197" y="32162"/>
                </a:cubicBezTo>
                <a:cubicBezTo>
                  <a:pt x="2421" y="32593"/>
                  <a:pt x="0" y="33668"/>
                  <a:pt x="723" y="33152"/>
                </a:cubicBezTo>
                <a:cubicBezTo>
                  <a:pt x="14162" y="23554"/>
                  <a:pt x="33528" y="22421"/>
                  <a:pt x="49708" y="25730"/>
                </a:cubicBezTo>
                <a:cubicBezTo>
                  <a:pt x="55634" y="26942"/>
                  <a:pt x="56919" y="36051"/>
                  <a:pt x="57625" y="42058"/>
                </a:cubicBezTo>
                <a:cubicBezTo>
                  <a:pt x="59549" y="58417"/>
                  <a:pt x="45164" y="77788"/>
                  <a:pt x="29421" y="82632"/>
                </a:cubicBezTo>
                <a:cubicBezTo>
                  <a:pt x="24996" y="83994"/>
                  <a:pt x="20197" y="83622"/>
                  <a:pt x="15567" y="83622"/>
                </a:cubicBezTo>
                <a:cubicBezTo>
                  <a:pt x="13723" y="83622"/>
                  <a:pt x="8684" y="83784"/>
                  <a:pt x="10124" y="82632"/>
                </a:cubicBezTo>
                <a:cubicBezTo>
                  <a:pt x="14444" y="79176"/>
                  <a:pt x="22541" y="75752"/>
                  <a:pt x="26453" y="79664"/>
                </a:cubicBezTo>
                <a:cubicBezTo>
                  <a:pt x="28086" y="81297"/>
                  <a:pt x="25265" y="84611"/>
                  <a:pt x="26453" y="86591"/>
                </a:cubicBezTo>
                <a:cubicBezTo>
                  <a:pt x="27834" y="88893"/>
                  <a:pt x="30394" y="90238"/>
                  <a:pt x="32390" y="92034"/>
                </a:cubicBezTo>
                <a:cubicBezTo>
                  <a:pt x="36951" y="96139"/>
                  <a:pt x="46506" y="101661"/>
                  <a:pt x="43276" y="106878"/>
                </a:cubicBezTo>
                <a:cubicBezTo>
                  <a:pt x="39899" y="112333"/>
                  <a:pt x="35417" y="117431"/>
                  <a:pt x="29916" y="120732"/>
                </a:cubicBezTo>
                <a:cubicBezTo>
                  <a:pt x="29321" y="121089"/>
                  <a:pt x="24236" y="122970"/>
                  <a:pt x="24473" y="123206"/>
                </a:cubicBezTo>
                <a:cubicBezTo>
                  <a:pt x="27057" y="125785"/>
                  <a:pt x="32060" y="124332"/>
                  <a:pt x="34864" y="126670"/>
                </a:cubicBezTo>
                <a:cubicBezTo>
                  <a:pt x="36642" y="128152"/>
                  <a:pt x="35922" y="131880"/>
                  <a:pt x="34369" y="133597"/>
                </a:cubicBezTo>
                <a:cubicBezTo>
                  <a:pt x="29322" y="139175"/>
                  <a:pt x="22989" y="143553"/>
                  <a:pt x="16556" y="147452"/>
                </a:cubicBezTo>
                <a:cubicBezTo>
                  <a:pt x="13147" y="149518"/>
                  <a:pt x="7453" y="148835"/>
                  <a:pt x="5671" y="152400"/>
                </a:cubicBezTo>
              </a:path>
            </a:pathLst>
          </a:custGeom>
          <a:noFill/>
          <a:ln cap="flat" cmpd="sng" w="114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94" name="Google Shape;94;p16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925" y="12107"/>
            <a:ext cx="1446625" cy="1288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0" y="0"/>
            <a:ext cx="5046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/>
              <a:t>Фокусировка на браузерных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/>
              <a:t> казуальных играх</a:t>
            </a:r>
            <a:endParaRPr sz="2500"/>
          </a:p>
        </p:txBody>
      </p:sp>
      <p:sp>
        <p:nvSpPr>
          <p:cNvPr id="100" name="Google Shape;100;p17"/>
          <p:cNvSpPr txBox="1"/>
          <p:nvPr>
            <p:ph idx="4294967295" type="body"/>
          </p:nvPr>
        </p:nvSpPr>
        <p:spPr>
          <a:xfrm>
            <a:off x="-56875" y="909850"/>
            <a:ext cx="49758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Желание играть - это база для человека.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Этот процесс зачастую не хочется переусложнять - нужно просто взять и сыграть в то, что понятно, приятно, по душе. Компьютерные игры, удовлетворяющие подобным требованиям - казуальные игры.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" sz="1400"/>
              <a:t>В нашем случае речь идёт о браузерных казуалках.</a:t>
            </a:r>
            <a:endParaRPr sz="1400"/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01" name="Google Shape;101;p17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145" y="3141825"/>
            <a:ext cx="3511425" cy="764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4282200" y="0"/>
            <a:ext cx="48618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По каким причинам люди выбирают именно их, а не казуалки из магазина приложений; почему просто не устанавливают игры на свой девайс. Моя точка зрения: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У кого-то нет своего компьютера - и играет на рабочем или библиотечном.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Сложности со скачиванием игр (пенсионеры, не знающие про магазины приложений; люди, имеющие сложности с покупками и паролями в магазинах приложений; дети, которым дали телефон, но не дали скачивать; те кто не приучен к скачиванию приложений или игре на телефоне).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На работе или в школе работают за компьютером и не хотят, чтобы их засекли, играющими на телефоне. Поэтому открывают игры онлайн.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Хотят не выходя из браузера/платформы/сайта поиграть во что-то, отвлечься от основной деятельности.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Кто-то любит косынку, сапёра и подобные игры и в качестве замены предустановленных приложений на Windows играет через браузер.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Кто-то не хочет скачивать платное приложение, а бесплатное из интернета с вирусами. Или просто аналогичная онлайн игра выгоднее (например на IOS).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Имеет слабый телефон. Или хочет не заморачиваться и “скакать” между играми (иметь мобильность).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И почему вообще играть должны именно через скачанные игры?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028100" y="767675"/>
            <a:ext cx="2023000" cy="2241575"/>
          </a:xfrm>
          <a:custGeom>
            <a:rect b="b" l="l" r="r" t="t"/>
            <a:pathLst>
              <a:path extrusionOk="0" h="89663" w="80920">
                <a:moveTo>
                  <a:pt x="0" y="69377"/>
                </a:moveTo>
                <a:cubicBezTo>
                  <a:pt x="7203" y="72694"/>
                  <a:pt x="29855" y="92218"/>
                  <a:pt x="43218" y="89280"/>
                </a:cubicBezTo>
                <a:cubicBezTo>
                  <a:pt x="56581" y="86342"/>
                  <a:pt x="76010" y="65396"/>
                  <a:pt x="80180" y="51748"/>
                </a:cubicBezTo>
                <a:cubicBezTo>
                  <a:pt x="84350" y="38100"/>
                  <a:pt x="69187" y="16018"/>
                  <a:pt x="68239" y="7393"/>
                </a:cubicBezTo>
                <a:cubicBezTo>
                  <a:pt x="67291" y="-1232"/>
                  <a:pt x="73452" y="1232"/>
                  <a:pt x="74494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4" name="Google Shape;104;p17"/>
          <p:cNvCxnSpPr/>
          <p:nvPr/>
        </p:nvCxnSpPr>
        <p:spPr>
          <a:xfrm flipH="1" rot="10800000">
            <a:off x="4888200" y="645375"/>
            <a:ext cx="95400" cy="12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4294967295" type="title"/>
          </p:nvPr>
        </p:nvSpPr>
        <p:spPr>
          <a:xfrm>
            <a:off x="489200" y="24740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кому важно?</a:t>
            </a:r>
            <a:endParaRPr/>
          </a:p>
        </p:txBody>
      </p:sp>
      <p:sp>
        <p:nvSpPr>
          <p:cNvPr id="110" name="Google Shape;110;p18"/>
          <p:cNvSpPr txBox="1"/>
          <p:nvPr>
            <p:ph idx="4294967295" type="body"/>
          </p:nvPr>
        </p:nvSpPr>
        <p:spPr>
          <a:xfrm>
            <a:off x="299637" y="107055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Напомним, что наши игроки браузерные и “казуальные”.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Игрокам важна оптимизированность игры (скорость, без лагов), её идея, условная бесплатность.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Разработчикам важна монетизируемость (вставка рекламы, доната), трафик игроков, кроссплатформенность их решения (на телефон, планшет, ПК), возможность добавления аналитики, простая загрузка новых игр на сайт, конструктор игр (шаблоны), отсутствие танцев с бубном, чтобы адаптировать игру под данный сайт.</a:t>
            </a:r>
            <a:endParaRPr/>
          </a:p>
        </p:txBody>
      </p:sp>
      <p:pic>
        <p:nvPicPr>
          <p:cNvPr id="111" name="Google Shape;111;p18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675" y="247388"/>
            <a:ext cx="17907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4294967295" type="title"/>
          </p:nvPr>
        </p:nvSpPr>
        <p:spPr>
          <a:xfrm>
            <a:off x="5487525" y="237000"/>
            <a:ext cx="3550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Яндекс Игры. Свойства для игроков, разрабов и конкурентов</a:t>
            </a:r>
            <a:endParaRPr/>
          </a:p>
        </p:txBody>
      </p:sp>
      <p:sp>
        <p:nvSpPr>
          <p:cNvPr id="117" name="Google Shape;117;p19"/>
          <p:cNvSpPr txBox="1"/>
          <p:nvPr>
            <p:ph idx="4294967295" type="body"/>
          </p:nvPr>
        </p:nvSpPr>
        <p:spPr>
          <a:xfrm>
            <a:off x="0" y="0"/>
            <a:ext cx="5487600" cy="49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600"/>
              <a:t>Не основной продукт Яндекса, допускает эксперименты и незначительную прибыльность в случае более важных метрик для других продуктов (мб встраивают пользователей в экосистему, делают их лояльней, взращивают молодых игроков, готовят их к другим сервисам, например, “Игромиру” и к покупкам на их маркетплейсе и аренде мощностей для более “профессиональной” игры).</a:t>
            </a:r>
            <a:endParaRPr sz="5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600"/>
              <a:t>Скорее всего меньше издержек на те же ресурсы в сравнении с конкурентами (речь про серверы). Благодаря более сильной позиции и своим техническим решениям, можно несильно снижать комиссии разработчикам  игр и “выбивать” лучшие цены от поставщиков рекламы (монетизаторов) и банков (есть свой эквайринг).</a:t>
            </a:r>
            <a:endParaRPr sz="5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600"/>
              <a:t>Широкий охват рынка (т.е. не ограничен к примеру, только женщинами). Огромный ассортимент игр и 30 их видов.</a:t>
            </a:r>
            <a:endParaRPr sz="5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600"/>
              <a:t>Узнаваемый бренд. Органический приток трафика. Размещение игр у партнёров (так как являешься надёжным и профессиональным вендором).</a:t>
            </a:r>
            <a:endParaRPr sz="5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5600"/>
              <a:t>Большая техническая экспертиза. Позволяет автоматизировать загрузку игр на сайт (“самоход”); делать решения </a:t>
            </a:r>
            <a:r>
              <a:rPr lang="ru" sz="5600"/>
              <a:t>кроссплатформенными; </a:t>
            </a:r>
            <a:r>
              <a:rPr lang="ru" sz="5600"/>
              <a:t>дизайн сайта индивидуальным и актуальным, встраивать всё, что нужно без чужих шаблонов (оплату, рекламу, отзывы, метрики). Можно быть гибким. Оптимизировать игры и решать проблемы, присущие играм в формате HTML-5.</a:t>
            </a:r>
            <a:endParaRPr sz="5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100" y="2648322"/>
            <a:ext cx="2076000" cy="13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20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{A59423C6-ED53-4A57-8D20-73EF99E58E47}</a:tableStyleId>
              </a:tblPr>
              <a:tblGrid>
                <a:gridCol w="1501325"/>
                <a:gridCol w="1501325"/>
                <a:gridCol w="1501325"/>
                <a:gridCol w="1501325"/>
                <a:gridCol w="1501325"/>
                <a:gridCol w="1637375"/>
              </a:tblGrid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Конкуренты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Позиционирование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Основной пользователь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Цена/ модель монетизации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Ключевая фича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</a:t>
                      </a:r>
                      <a:r>
                        <a:rPr lang="ru" sz="1000"/>
                        <a:t>анал привлечения/ заметный growth-механизм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7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poki.com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>
                          <a:solidFill>
                            <a:srgbClr val="002B50"/>
                          </a:solidFill>
                          <a:highlight>
                            <a:srgbClr val="FFFFFF"/>
                          </a:highlight>
                        </a:rPr>
                        <a:t>Лучшие бесп</a:t>
                      </a:r>
                      <a:r>
                        <a:rPr lang="ru" sz="800">
                          <a:solidFill>
                            <a:srgbClr val="002B50"/>
                          </a:solidFill>
                          <a:highlight>
                            <a:srgbClr val="FFFFFF"/>
                          </a:highlight>
                        </a:rPr>
                        <a:t>латные онлайн-игры, в которые можно играть как в одиночку, так и с друзьями.</a:t>
                      </a:r>
                      <a:r>
                        <a:rPr lang="ru" sz="80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ru" sz="800">
                          <a:solidFill>
                            <a:srgbClr val="002B50"/>
                          </a:solidFill>
                          <a:highlight>
                            <a:srgbClr val="FFFFFF"/>
                          </a:highlight>
                        </a:rPr>
                        <a:t>В наши игры можно играть мгновенно, без загрузки, регистрации, всплывающих окон и других препятствий. </a:t>
                      </a:r>
                      <a:r>
                        <a:rPr lang="ru" sz="800">
                          <a:solidFill>
                            <a:schemeClr val="dk2"/>
                          </a:solidFill>
                        </a:rPr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Кому нравятся казуалки online как на телефоне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Комиссия с рекламы: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50/50 в случае захода в игру с сайта poki.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100/0 в остальных случаях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Эксклюзивные игры (только там);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Известные игры;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Высокое качество игр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(100 млн игроков, 1700 игр)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Прямой трафик и органический трафик; хорошие игры удерживают пользователей - лучше индексация - больше пользователей - больше сильных разрабов/студий  - больше хороших игр;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довольные игроки приглашают друзей и рассказывают про свой опыт в сети среди геймеров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7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crazy.com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CrazyGames предлагает самые новые и лучшие бесплатные онлайн-игры. Вы можете наслаждаться увлекательными играми без задержек, навязчивой рекламы или всплывающих окон. Просто запустите свои любимые игры прямо в веб-браузере и наслаждайтесь процессом.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Кто хочет поиграть  бесплатно online зарубежом.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Комиссия с </a:t>
                      </a:r>
                      <a:r>
                        <a:rPr lang="ru" sz="800"/>
                        <a:t>рекламы</a:t>
                      </a:r>
                      <a:r>
                        <a:rPr lang="ru" sz="800"/>
                        <a:t> и донатов ?/?, скорее всего 50/50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Разнообразные хорошие игры по разным жанрам.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Внимательная модерация для разрабов..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(30 млн игроков, 4500 игр)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Аналогично poki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6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Яндекс Игры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Бесплатные онлайн-игры на разный вкус: боевики, головоломки, гонки, игры на двоих и многое другое. Скачивать не нужно — можно играть с мобильного телефона…</a:t>
                      </a:r>
                      <a:endParaRPr sz="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>
                          <a:solidFill>
                            <a:schemeClr val="dk2"/>
                          </a:solidFill>
                        </a:rPr>
                        <a:t>Кто хочет поиграть  бесплатно online.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50% за рекламные показы и внутриигровой донат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Огромный выбор,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Платит разрабам в РФ и платит больше остальных.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Не самая требовательная модерация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Занимается экспериментами-тестами,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Работает в РФ в отличии от двух сайтов выше (без VPN)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(46 млн игроков, 20000 игр)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Аналогично poki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0"/>
          <p:cNvSpPr txBox="1"/>
          <p:nvPr>
            <p:ph idx="4294967295" type="title"/>
          </p:nvPr>
        </p:nvSpPr>
        <p:spPr>
          <a:xfrm>
            <a:off x="2093525" y="246700"/>
            <a:ext cx="5050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Матрица конкурентов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{A59423C6-ED53-4A57-8D20-73EF99E58E47}</a:tableStyleId>
              </a:tblPr>
              <a:tblGrid>
                <a:gridCol w="1501325"/>
                <a:gridCol w="1501325"/>
                <a:gridCol w="1501325"/>
                <a:gridCol w="1501325"/>
                <a:gridCol w="1501325"/>
                <a:gridCol w="1637375"/>
              </a:tblGrid>
              <a:tr h="7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y8.com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Y8.com это глобальная онлайн-игровая платформа предлагающая одну из крупнейших и самых разнообразных коллекций бесплатных онлайн-игр в мире. Основанная в начале 2000-х годов, Y8 эволюционировала из классического Flash-игрового портала в современную экосистему с играми на базе HTML5, WebGL и мультиплеерными проектами - все они доступны для мгновенной игры без загрузок.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Кто хочет поностальгировать и окунуться в казуалки в онлайн.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Комиссия на рекламу 50%/50%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Целая игровая платформа;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Ностальгия по классике;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Огромный выбор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Кстати дизайн похож на МП playerok 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(30 млн?, но трафик всего 5 млн, 100.000 игр)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Аналогично poki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94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itch.io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itch.io открытый маркетплейс для независимых цифровых разработчиков с фокусом на инди игры. Это платформа, которая позволяет каждому продавать контент, который они создали. Как продавец, вы отвечаете за то, как это делается: вы устанавливайте цену, вы ведёте продажи и разрабатываете дизайн страницы.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Кто хочет скачать игру, позависать в магазине игр.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Часто 10% за покупку, до 30%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Инди царство. Нишевое место для покупки/скачивания/ тестирования игр и гиковских штук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“Убийца Steam”</a:t>
                      </a:r>
                      <a:endParaRPr sz="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Разраб сам выбирает размер комиссии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Аналогично poki.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idx="4294967295" type="title"/>
          </p:nvPr>
        </p:nvSpPr>
        <p:spPr>
          <a:xfrm>
            <a:off x="0" y="66150"/>
            <a:ext cx="9144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Яндекс Игры. </a:t>
            </a:r>
            <a:r>
              <a:rPr lang="ru"/>
              <a:t>Гипотезы</a:t>
            </a:r>
            <a:r>
              <a:rPr lang="ru"/>
              <a:t> по улучшению продукта - каталога казуальных игр. Много текста, зато какого</a:t>
            </a:r>
            <a:endParaRPr/>
          </a:p>
        </p:txBody>
      </p:sp>
      <p:sp>
        <p:nvSpPr>
          <p:cNvPr id="135" name="Google Shape;135;p22"/>
          <p:cNvSpPr txBox="1"/>
          <p:nvPr>
            <p:ph idx="4294967295" type="body"/>
          </p:nvPr>
        </p:nvSpPr>
        <p:spPr>
          <a:xfrm>
            <a:off x="98950" y="1033350"/>
            <a:ext cx="8115000" cy="30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AutoNum type="arabicPeriod"/>
            </a:pPr>
            <a:r>
              <a:rPr b="1" lang="ru" sz="1290"/>
              <a:t>Раздел “Здоровье”</a:t>
            </a:r>
            <a:r>
              <a:rPr lang="ru" sz="1290"/>
              <a:t>. </a:t>
            </a:r>
            <a:r>
              <a:rPr lang="ru" sz="1290"/>
              <a:t>Например</a:t>
            </a:r>
            <a:r>
              <a:rPr lang="ru" sz="1290"/>
              <a:t>, гимнастика для глаз. Чтобы отдохнуть после скроллинга или игры или сказать родителям/ работодателю, что ты не играешь, а делаешь гимнастику. Или какая-то психологическая разгрузка - упражнения (правда опросники с плохими результатами могут испортить впечатления от продукта). Повышаем доверие к сервису, делаем его </a:t>
            </a:r>
            <a:r>
              <a:rPr lang="ru" sz="1290"/>
              <a:t>респектабельнее</a:t>
            </a:r>
            <a:r>
              <a:rPr lang="ru" sz="1290"/>
              <a:t>.</a:t>
            </a:r>
            <a:endParaRPr sz="1290"/>
          </a:p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AutoNum type="arabicPeriod"/>
            </a:pPr>
            <a:r>
              <a:rPr b="1" lang="ru" sz="1290"/>
              <a:t>Раздел “Интерактивные социальные материалы”</a:t>
            </a:r>
            <a:r>
              <a:rPr lang="ru" sz="1290"/>
              <a:t>. Подключить сюда департаменты или фонды, которые хотят свои проекты геймифицировать: обучение бабушек компьютеру, помощь амурским тиграм, пройди диспансеризацию, сдай кровь. Это плюс в карму и помощь </a:t>
            </a:r>
            <a:r>
              <a:rPr lang="ru" sz="1290"/>
              <a:t>благотворительная</a:t>
            </a:r>
            <a:r>
              <a:rPr lang="ru" sz="1290"/>
              <a:t> (может налоговые льготы будут) и централизация таких проектов на одной платформе. Также можно подогнать им игровую форму, которую они могут к себе на сайт добавить. </a:t>
            </a:r>
            <a:endParaRPr sz="1290"/>
          </a:p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AutoNum type="arabicPeriod"/>
            </a:pPr>
            <a:r>
              <a:rPr b="1" lang="ru" sz="1290"/>
              <a:t>Раздел “Нейросети и игры”.</a:t>
            </a:r>
            <a:r>
              <a:rPr lang="ru" sz="1290"/>
              <a:t> Регулярно форсятся игры на основе работы с изображением или голосом (правда быстро выходят из моды). Можно как на платформе Hugging Face загружать их и давать пользователями запускать, помимо игр на их основе.  Также могут быть игры на основе разговора с чатботом (например Яндекса с воронкой в дальнейшую подписку). Уклон делается на </a:t>
            </a:r>
            <a:r>
              <a:rPr lang="ru" sz="1290"/>
              <a:t>предоставление</a:t>
            </a:r>
            <a:r>
              <a:rPr lang="ru" sz="1290"/>
              <a:t> места для чего-то в тренде или их аналогов (правда они вроде создаются для тестирования технологий, обучения нейронок или сбора данных, не знаю готова ли платформа этим делиться). Потом это можно будет в что-то самостоятельное отделить.</a:t>
            </a:r>
            <a:endParaRPr sz="1290"/>
          </a:p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AutoNum type="arabicPeriod"/>
            </a:pPr>
            <a:r>
              <a:rPr lang="ru" sz="1290"/>
              <a:t>Если говорить о разделах игр для </a:t>
            </a:r>
            <a:r>
              <a:rPr lang="ru" sz="1290"/>
              <a:t>пользователей</a:t>
            </a:r>
            <a:r>
              <a:rPr lang="ru" sz="1290"/>
              <a:t>, то можно сделать и</a:t>
            </a:r>
            <a:r>
              <a:rPr b="1" lang="ru" sz="1290"/>
              <a:t> “Раздел для разработчиков”</a:t>
            </a:r>
            <a:r>
              <a:rPr lang="ru" sz="1290"/>
              <a:t> с “заказами - идеями” для новых актуальных игр (причём по странам), на основе внутренней статистики - улучшаем предложения для разрабов. Или с гайдами по геймдеву и автоматическому тестированию сразу на платформе - для привлечения молодых разрабов. В дальнейшем использовать это  для создания платформы  для игровой разработки, правда нужно будет ещё игровой движок создать.</a:t>
            </a:r>
            <a:endParaRPr sz="129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1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idx="4294967295" type="title"/>
          </p:nvPr>
        </p:nvSpPr>
        <p:spPr>
          <a:xfrm>
            <a:off x="1411200" y="2600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гипотезы</a:t>
            </a:r>
            <a:endParaRPr/>
          </a:p>
        </p:txBody>
      </p:sp>
      <p:sp>
        <p:nvSpPr>
          <p:cNvPr id="141" name="Google Shape;141;p23"/>
          <p:cNvSpPr txBox="1"/>
          <p:nvPr>
            <p:ph idx="4294967295" type="body"/>
          </p:nvPr>
        </p:nvSpPr>
        <p:spPr>
          <a:xfrm>
            <a:off x="1411212" y="127982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Нейросетевые игры и помощники можно вынести в сервис браузерных приложений “Яндекс Приложения” (если с играми работает, почему бы с лёгкими приложениями не сделать такое?) или вообще сделать биржу нейросетей.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По аналогии с рекламой товаров c маркетплейсов с их “артикул в описании” логично так делать с маркетплейсом игровых товаров. Но для этого нужны аналогичные, но игровые видосы. Такое может быть в игровых группах, выпускающих видеоролики. Также надо бы понять как устроен маркетинг компьютерных игр. Что-то должно рождать интерес, должны быть обсуждения - т.е. опять группы, фансообщества или форум, с которыми надо работать. Как я понял, Яндекс “Игромир” решил создать свой портал, наверное, выкупит </a:t>
            </a:r>
            <a:r>
              <a:rPr lang="ru" u="sng">
                <a:solidFill>
                  <a:schemeClr val="hlink"/>
                </a:solidFill>
                <a:hlinkClick r:id="rId3"/>
              </a:rPr>
              <a:t>DTF.ru</a:t>
            </a:r>
            <a:r>
              <a:rPr lang="ru"/>
              <a:t>, это будет типично для компании. Взять идею платформы от “</a:t>
            </a:r>
            <a:r>
              <a:rPr lang="ru" u="sng">
                <a:solidFill>
                  <a:schemeClr val="hlink"/>
                </a:solidFill>
                <a:hlinkClick r:id="rId4"/>
              </a:rPr>
              <a:t>y8.com</a:t>
            </a:r>
            <a:r>
              <a:rPr lang="ru"/>
              <a:t>”.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Материалы, промты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94070" y="1164175"/>
            <a:ext cx="86376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Про нейросети: DeepSeek я использовал для филосовствования и системного подхода к анализу, далее Perplexity для структурирования своего понимания (именно этот </a:t>
            </a:r>
            <a:r>
              <a:rPr lang="ru" sz="1500"/>
              <a:t>системный</a:t>
            </a:r>
            <a:r>
              <a:rPr lang="ru" sz="1500"/>
              <a:t> анализ мне и интересно автоматизировать. Но первостепенным, конечно, являются свои вопросы и попытки разобраться) Также использовал в качестве поиска “Режим ИИ” от Гугла и далее проверял по представленной ссылке не “обманывает” ли он или сам проверял.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Про составляющие трафика сайтов с сайта “https://www.semrush.com/ “</a:t>
            </a:r>
            <a:r>
              <a:rPr lang="ru" sz="15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ru" sz="1500">
                <a:latin typeface="Arial"/>
                <a:ea typeface="Arial"/>
                <a:cs typeface="Arial"/>
                <a:sym typeface="Arial"/>
              </a:rPr>
              <a:t>Актуально на 01.06.26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ru" sz="1500">
                <a:latin typeface="Arial"/>
                <a:ea typeface="Arial"/>
                <a:cs typeface="Arial"/>
                <a:sym typeface="Arial"/>
              </a:rPr>
              <a:t>Информация по комиссиям для разработчиков, числу пользователей и позиционированию взята с самих сайтов игр. Актуально на 01.06.26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ru" sz="1500">
                <a:latin typeface="Arial"/>
                <a:ea typeface="Arial"/>
                <a:cs typeface="Arial"/>
                <a:sym typeface="Arial"/>
              </a:rPr>
              <a:t>Выявление фич я произвёл по анализу наполнения сайтов и игре на них. </a:t>
            </a:r>
            <a:r>
              <a:rPr lang="ru" sz="1500">
                <a:latin typeface="Arial"/>
                <a:ea typeface="Arial"/>
                <a:cs typeface="Arial"/>
                <a:sym typeface="Arial"/>
              </a:rPr>
              <a:t>Актуально на 01.06.26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